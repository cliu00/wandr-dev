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12192000" cy="73152"/>
          </a:xfrm>
          <a:prstGeom prst="rect">
            <a:avLst/>
          </a:prstGeom>
          <a:solidFill>
            <a:srgbClr val="E8825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Wandr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515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882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Journey Map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25400">
            <a:solidFill>
              <a:srgbClr val="E882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routes, entry points, and key decision flows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Wandr travel planning prototype.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E2D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566160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Primary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91440" cy="365760"/>
          </a:xfrm>
          <a:prstGeom prst="roundRect">
            <a:avLst>
              <a:gd name="adj" fmla="val 60000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05993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E2D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4059936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Escape Entry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91440" cy="365760"/>
          </a:xfrm>
          <a:prstGeom prst="roundRect">
            <a:avLst>
              <a:gd name="adj" fmla="val 600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53712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E2D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4553712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Group Survey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91440" cy="365760"/>
          </a:xfrm>
          <a:prstGeom prst="roundRect">
            <a:avLst>
              <a:gd name="adj" fmla="val 60000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93040" y="3566160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E2D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21056" y="3566160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Member Join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93040" y="3566160"/>
            <a:ext cx="91440" cy="365760"/>
          </a:xfrm>
          <a:prstGeom prst="roundRect">
            <a:avLst>
              <a:gd name="adj" fmla="val 60000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93040" y="4059936"/>
            <a:ext cx="3566160" cy="365760"/>
          </a:xfrm>
          <a:prstGeom prst="roundRect">
            <a:avLst>
              <a:gd name="adj" fmla="val 15000"/>
            </a:avLst>
          </a:prstGeom>
          <a:solidFill>
            <a:srgbClr val="1E2D42"/>
          </a:solidFill>
          <a:ln w="12700">
            <a:solidFill>
              <a:srgbClr val="2A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021056" y="4059936"/>
            <a:ext cx="3438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Auth Flow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893040" y="4059936"/>
            <a:ext cx="91440" cy="365760"/>
          </a:xfrm>
          <a:prstGeom prst="roundRect">
            <a:avLst>
              <a:gd name="adj" fmla="val 60000"/>
            </a:avLst>
          </a:prstGeom>
          <a:solidFill>
            <a:srgbClr val="7C6F9F"/>
          </a:solidFill>
          <a:ln w="12700">
            <a:solidFill>
              <a:srgbClr val="7C6F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6 slides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109728"/>
            <a:ext cx="10058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Wandr — User Journey Map  (Overview)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2000" cy="54864"/>
          </a:xfrm>
          <a:prstGeom prst="rect">
            <a:avLst/>
          </a:prstGeom>
          <a:solidFill>
            <a:srgbClr val="3B6DC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" y="1051560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" y="1051560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①  Primary 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" y="1764792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" y="176479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②  Escape Entry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" y="2478024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" y="247802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③  Group Survey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" y="3191256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" y="31912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④  Member Join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" y="3904488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7C6F9F"/>
          </a:solidFill>
          <a:ln w="12700">
            <a:solidFill>
              <a:srgbClr val="7C6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" y="390448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⑤  Auth 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52144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0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88336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Quiz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/intake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96512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24528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32704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0720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/itinerary/:id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68896" y="10972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→ [group]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296912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96912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Invite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/survey/invite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05088" y="109728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833104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33104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0" y="1097280"/>
            <a:ext cx="585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→ re-gen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186416" y="987552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86416" y="987552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52144" y="1700784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52144" y="170078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Card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(Popular Escapes)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18105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688336" y="1700784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88336" y="1700784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Type 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(noType=true)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96512" y="184708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→ joins Intake quiz →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152144" y="2414016"/>
            <a:ext cx="10058400" cy="457200"/>
          </a:xfrm>
          <a:prstGeom prst="roundRect">
            <a:avLst>
              <a:gd name="adj" fmla="val 16000"/>
            </a:avLst>
          </a:prstGeom>
          <a:solidFill>
            <a:srgbClr val="D0EDE3"/>
          </a:solidFill>
          <a:ln w="12700">
            <a:solidFill>
              <a:srgbClr val="D0ED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61872" y="2487168"/>
            <a:ext cx="983894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organiser: Intake ends with "Invite My Wandrers →". Organiser sees Itinerary, then clicks "Invite Group" → Survey Invite page.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unique link with each group member → they complete Survey Join quiz independently.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0" y="3127248"/>
            <a:ext cx="18653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(starts from shared link)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7296912" y="3127248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31272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Join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/survey/join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705088" y="323697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833104" y="3127248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33104" y="3127248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/survey/status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224528" y="3840480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7C6F9F"/>
          </a:solidFill>
          <a:ln w="12700">
            <a:solidFill>
              <a:srgbClr val="7C6F9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24528" y="38404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/sign-in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32704" y="3931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⇄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760720" y="3840480"/>
            <a:ext cx="1408176" cy="457200"/>
          </a:xfrm>
          <a:prstGeom prst="roundRect">
            <a:avLst>
              <a:gd name="adj" fmla="val 16000"/>
            </a:avLst>
          </a:prstGeom>
          <a:solidFill>
            <a:srgbClr val="7C6F9F"/>
          </a:solidFill>
          <a:ln w="12700">
            <a:solidFill>
              <a:srgbClr val="7C6F9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3840480"/>
            <a:ext cx="1408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/sign-up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68896" y="39684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→ Home  (triggered from Nav or itinerary save gate)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152144" y="4754880"/>
            <a:ext cx="9144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Secondary pages: /faq  /brand  /trips  /privacy  /terms  /contact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109728"/>
            <a:ext cx="10058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①  —  Primary Flow (Solo / Duo / Group / Family)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2000" cy="54864"/>
          </a:xfrm>
          <a:prstGeom prst="rect">
            <a:avLst/>
          </a:prstGeom>
          <a:solidFill>
            <a:srgbClr val="3B6DC1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0058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1887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Quiz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/intake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1887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18872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0" y="10058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/itinerary/:id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80467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Hero Search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(with trip type)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320" y="190195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Intake quiz steps vary by party type: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31136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31136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311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Solo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231136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Vibe  →  Energy  →  Budget  →  Activities  →  Food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706624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06624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066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Duo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2706624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Style  →  Energy  →  Budget  →  Activities  →  Food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182112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82112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18211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3182112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Dynamic  →  Energy  →  Budget  →  Activities  →  Food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65760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65760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6576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Family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05840" y="3657600"/>
            <a:ext cx="10149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Kids ages  →  Energy  →  Budget  →  Activities  →  Food  →  Family needs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187952"/>
            <a:ext cx="10972800" cy="475488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4261104"/>
            <a:ext cx="1075334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(cannot skip): Party Type  ·  Duration &amp; Dates  ·  Kids Ages (family)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steps can be skipped with the 'Skip' action.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109728"/>
            <a:ext cx="10058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②  Escape Entry  &amp;  Journey ③  Group Survey Organiser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2000" cy="54864"/>
          </a:xfrm>
          <a:prstGeom prst="rect">
            <a:avLst/>
          </a:prstGeom>
          <a:solidFill>
            <a:srgbClr val="6B46C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9611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6C1"/>
                </a:solidFill>
              </a:rPr>
              <a:t>② Escape Entry — clicking a Popular Escape card on the Home 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618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Card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444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2618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Type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(prepend)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444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618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Quiz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/intake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1444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323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0" y="12618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0" y="14447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4183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2618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/itinerary/:id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1901952"/>
            <a:ext cx="10972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noType=true param → party type step is prepended before the main quiz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231136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340864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E"/>
                </a:solidFill>
              </a:rPr>
              <a:t>③ Group Survey — Organiser Journey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70662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706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type)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29077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270662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0" y="2706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"Invite 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Wandrers →"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29077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270662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06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9077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132320" y="270662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2706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/itinerary/:id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052560" y="29077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18320" y="270662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0" y="270662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Invite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/survey/invite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4381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2E7D5E"/>
          </a:solidFill>
          <a:ln w="12700">
            <a:solidFill>
              <a:srgbClr val="2E7D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43814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/survey/status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94560" y="36393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560320" y="34381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343814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Re-generate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480560" y="36393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846320" y="343814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43814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0" y="3438144"/>
            <a:ext cx="256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←  from Survey Invite: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133088"/>
            <a:ext cx="10972800" cy="585216"/>
          </a:xfrm>
          <a:prstGeom prst="roundRect">
            <a:avLst>
              <a:gd name="adj" fmla="val 12500"/>
            </a:avLst>
          </a:prstGeom>
          <a:solidFill>
            <a:srgbClr val="D0EDE3"/>
          </a:solidFill>
          <a:ln w="12700">
            <a:solidFill>
              <a:srgbClr val="D0EDE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06240"/>
            <a:ext cx="1075334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Invite: organiser adds group members by name, copies a unique shareable link per member.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Status: shows response completion for each member. When all respond, organiser can re-generate the itinerary with group input baked in.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109728"/>
            <a:ext cx="10058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④  —  Group Member  (Survey Join via shared link)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2000" cy="54864"/>
          </a:xfrm>
          <a:prstGeom prst="rect">
            <a:avLst/>
          </a:prstGeom>
          <a:solidFill>
            <a:srgbClr val="C25E1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7782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Member opens a unique link shared by the trip organiser and completes a short preferences quiz.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/survey/join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?name&amp;token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81328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645920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62656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27248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43984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08576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25312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9904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06640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71232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887968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52560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69296" y="1499616"/>
            <a:ext cx="164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33888" y="1316736"/>
            <a:ext cx="1316736" cy="640080"/>
          </a:xfrm>
          <a:prstGeom prst="roundRect">
            <a:avLst>
              <a:gd name="adj" fmla="val 11429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33888" y="1316736"/>
            <a:ext cx="13167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215798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Survey Join quiz steps: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487168"/>
            <a:ext cx="10972800" cy="310896"/>
          </a:xfrm>
          <a:prstGeom prst="roundRect">
            <a:avLst>
              <a:gd name="adj" fmla="val 14706"/>
            </a:avLst>
          </a:prstGeom>
          <a:solidFill>
            <a:srgbClr val="FDECD7"/>
          </a:solidFill>
          <a:ln w="12700">
            <a:solidFill>
              <a:srgbClr val="FDECD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48716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8716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Welcome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54480" y="2487168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Intro screen with trip name &amp; organiser — sets context before questions begin.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843784"/>
            <a:ext cx="10972800" cy="310896"/>
          </a:xfrm>
          <a:prstGeom prst="roundRect">
            <a:avLst>
              <a:gd name="adj" fmla="val 14706"/>
            </a:avLst>
          </a:prstGeom>
          <a:solidFill>
            <a:srgbClr val="FDECD7"/>
          </a:solidFill>
          <a:ln w="12700">
            <a:solidFill>
              <a:srgbClr val="FDECD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2843784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8437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Group Dynamic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54480" y="2843784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How does the member prefer to travel within the group? (e.g. explore solo, pair off, all together)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200400"/>
            <a:ext cx="10972800" cy="310896"/>
          </a:xfrm>
          <a:prstGeom prst="roundRect">
            <a:avLst>
              <a:gd name="adj" fmla="val 14706"/>
            </a:avLst>
          </a:prstGeom>
          <a:solidFill>
            <a:srgbClr val="FDECD7"/>
          </a:solidFill>
          <a:ln w="12700">
            <a:solidFill>
              <a:srgbClr val="FDECD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200400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3200400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Energy Level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54480" y="3200400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Slider: how packed should each day be? Rest vs. adventure.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3557016"/>
            <a:ext cx="10972800" cy="310896"/>
          </a:xfrm>
          <a:prstGeom prst="roundRect">
            <a:avLst>
              <a:gd name="adj" fmla="val 14706"/>
            </a:avLst>
          </a:prstGeom>
          <a:solidFill>
            <a:srgbClr val="FDECD7"/>
          </a:solidFill>
          <a:ln w="12700">
            <a:solidFill>
              <a:srgbClr val="FDEC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3557016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355701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Budget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54480" y="355701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Budget tier preference: budget / moderate / comfort / luxury.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913632"/>
            <a:ext cx="10972800" cy="310896"/>
          </a:xfrm>
          <a:prstGeom prst="roundRect">
            <a:avLst>
              <a:gd name="adj" fmla="val 14706"/>
            </a:avLst>
          </a:prstGeom>
          <a:solidFill>
            <a:srgbClr val="FDECD7"/>
          </a:solidFill>
          <a:ln w="12700">
            <a:solidFill>
              <a:srgbClr val="FDECD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3913632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391363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Activities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54480" y="3913632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Multi-select: culture, nature, food, nightlife, relaxation, etc.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4270248"/>
            <a:ext cx="10972800" cy="310896"/>
          </a:xfrm>
          <a:prstGeom prst="roundRect">
            <a:avLst>
              <a:gd name="adj" fmla="val 14706"/>
            </a:avLst>
          </a:prstGeom>
          <a:solidFill>
            <a:srgbClr val="FDECD7"/>
          </a:solidFill>
          <a:ln w="12700">
            <a:solidFill>
              <a:srgbClr val="FDECD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270248"/>
            <a:ext cx="1188720" cy="310896"/>
          </a:xfrm>
          <a:prstGeom prst="roundRect">
            <a:avLst>
              <a:gd name="adj" fmla="val 14706"/>
            </a:avLst>
          </a:prstGeom>
          <a:solidFill>
            <a:srgbClr val="C25E1A"/>
          </a:solidFill>
          <a:ln w="12700">
            <a:solidFill>
              <a:srgbClr val="C25E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270248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Food &amp; Dining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54480" y="4270248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Dining preferences: street food, sit-down, one standout meal, dietary needs.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1323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109728"/>
            <a:ext cx="100584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Journey ⑤  Auth Flow  &amp;  Itinerary Interactions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713232"/>
            <a:ext cx="12192000" cy="54864"/>
          </a:xfrm>
          <a:prstGeom prst="rect">
            <a:avLst/>
          </a:prstGeom>
          <a:solidFill>
            <a:srgbClr val="7C6F9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B8A"/>
                </a:solidFill>
              </a:rPr>
              <a:t>⑤ Auth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Triggered from: Nav 'Sign in' button, or Itinerary save action (auth gate modal)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499616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7C6F9F"/>
          </a:solidFill>
          <a:ln w="12700">
            <a:solidFill>
              <a:srgbClr val="7C6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996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/sign-in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68249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1499616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7C6F9F"/>
          </a:solidFill>
          <a:ln w="12700">
            <a:solidFill>
              <a:srgbClr val="7C6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4996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/sign-up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68249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94960" y="1499616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3B6DC1"/>
          </a:solidFill>
          <a:ln w="12700">
            <a:solidFill>
              <a:srgbClr val="3B6D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49961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1396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Sign In links to Sign Up and vice versa  ·  Both return the user to Home (or previous page)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968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</a:rPr>
              <a:t>Itinerary Interactions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88950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Available on every generated itinerary — no account required except Save: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182112"/>
            <a:ext cx="109728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8211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3182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Swap Activity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49424" y="318211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Each activity block has an AI-matched alternative. Tap 'Swap' to replace; tap 'Swap back' to restore.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11296"/>
            <a:ext cx="109728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511296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⏸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3232" y="35112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Rest / Skip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249424" y="3511296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Turn any activity slot into free time. A 'Restore activity' link brings it back.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840480"/>
            <a:ext cx="109728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4048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3840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Save Trip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249424" y="38404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Persists the itinerary to the user's saved trips. Triggers an auth gate modal if not signed in.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698480" y="3895344"/>
            <a:ext cx="566928" cy="182880"/>
          </a:xfrm>
          <a:prstGeom prst="roundRect">
            <a:avLst>
              <a:gd name="adj" fmla="val 20000"/>
            </a:avLst>
          </a:prstGeom>
          <a:solidFill>
            <a:srgbClr val="E8825A"/>
          </a:solidFill>
          <a:ln w="12700">
            <a:solidFill>
              <a:srgbClr val="E882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98480" y="3895344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auth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4320" y="4169664"/>
            <a:ext cx="109728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169664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⎘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3232" y="416966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Share Link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249424" y="41696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Copies a shareable itinerary URL to the clipboard.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498848"/>
            <a:ext cx="10972800" cy="292608"/>
          </a:xfrm>
          <a:prstGeom prst="roundRect">
            <a:avLst>
              <a:gd name="adj" fmla="val 1562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498848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13232" y="449884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</a:rPr>
              <a:t>Start Over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249424" y="44988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Navigates back to /intake with destination and trip type preserved — resets all preferences.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Wandr — User Journey Map</dc:title>
  <dc:subject>UX Flow</dc:subject>
  <dc:creator>Wandr</dc:creator>
  <cp:lastModifiedBy>Wandr</cp:lastModifiedBy>
  <cp:revision>1</cp:revision>
  <dcterms:created xsi:type="dcterms:W3CDTF">2026-03-13T18:02:45Z</dcterms:created>
  <dcterms:modified xsi:type="dcterms:W3CDTF">2026-03-13T18:02:45Z</dcterms:modified>
</cp:coreProperties>
</file>